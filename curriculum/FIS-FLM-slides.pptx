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laude.ai/artifact/XPmSdKXgRt4VAYWLtM86S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256411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برنامه خودآموز · بورس تهران و فرابورس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2849860"/>
            <a:ext cx="10668000" cy="1035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5720"/>
              </a:lnSpc>
            </a:pPr>
            <a:r>
              <a:rPr sz="5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FIS و FLM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919141"/>
            <a:ext cx="106680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800"/>
              </a:lnSpc>
            </a:pPr>
            <a:r>
              <a:rPr sz="2000" b="0" lang="fa-IR" altLang="en-US">
                <a:solidFill>
                  <a:srgbClr val="C9D2DA"/>
                </a:solidFill>
                <a:latin typeface="Vazirmatn"/>
                <a:ea typeface="Vazirmatn"/>
                <a:cs typeface="Vazirmatn"/>
              </a:rPr>
              <a:t>تحلیل بنیادی شرکت‌ها با کدال، و مدیریت روان و پول سرمایه‌گذار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آموزشی، نه توصیه سرمایه‌گذاری · مهر ۱۴۰۵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2411710"/>
            <a:ext cx="10668000" cy="10350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5720"/>
              </a:lnSpc>
            </a:pPr>
            <a:r>
              <a:rPr sz="5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هیچ روشی سود تضمین‌شده نمی‌دهد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95600" y="3538141"/>
            <a:ext cx="84836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900"/>
              </a:lnSpc>
            </a:pPr>
            <a:r>
              <a:rPr sz="2000" b="0" lang="fa-IR" altLang="en-US">
                <a:solidFill>
                  <a:srgbClr val="E3EFEC"/>
                </a:solidFill>
                <a:latin typeface="Vazirmatn"/>
                <a:ea typeface="Vazirmatn"/>
                <a:cs typeface="Vazirmatn"/>
              </a:rPr>
              <a:t>این دوره خواندن عدد و تصمیم‌گیری منظم را آموزش می‌دهد و توصیه خرید یا فروش هیچ سهمی نیست. نتیجه هر روش را با تورم و صندوق درآمد ثابت بسنجید.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فهرست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سرفصل‌ها</a:t>
            </a:r>
          </a:p>
        </p:txBody>
      </p:sp>
      <p:sp>
        <p:nvSpPr>
          <p:cNvPr id="4" name="Rectangle 3"/>
          <p:cNvSpPr/>
          <p:nvPr/>
        </p:nvSpPr>
        <p:spPr>
          <a:xfrm>
            <a:off x="6299200" y="255012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98048" y="202942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202942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نقشه راه یادگیری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9200" y="320417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98048" y="268347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268347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مبانی بازار و بازده واقعی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99200" y="385822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98048" y="333752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7600" y="333752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تسلط بر کدال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9200" y="451227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98048" y="399157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۳ب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7600" y="399157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خواندن صفحه گزارش کدال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9200" y="516632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98048" y="464562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7600" y="464562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مهارت‌های اصلی FIS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255012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11648" y="202942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۴ب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202942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ارزش‌گذاری و کیفیت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800" y="320417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1648" y="268347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268347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FLM: روان و زندگی مالی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385822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1648" y="333752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200" y="333752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ماژول‌های تمرینی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2800" y="451227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11648" y="399157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399157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مباحث پیشرفته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2800" y="5166320"/>
            <a:ext cx="50800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11648" y="4645620"/>
            <a:ext cx="581152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4645620"/>
            <a:ext cx="4419600" cy="393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400"/>
              </a:lnSpc>
            </a:pPr>
            <a:r>
              <a:rPr sz="20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خودارزیابی و آزمون نهایی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۱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نقشه راه یادگیری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شش مرحله، حدود ۲۴ تا ۳۰ هفته، روزانه ۱ تا ۱.۵ ساعت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اول آمادگی مالی شخصی، بعد تحلیل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هر مرحله یک خروجی ملموس دارد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فهرست تمرینی ۸ تا ۱۰ شرکت از ۴ صنعت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پوشه هر شرکت: ماهانه، فصلی، رویدادها، دفترچه تصمیم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اول عدد، بعد قیمت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250" y="4952504"/>
            <a:ext cx="518795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9200" y="5234781"/>
            <a:ext cx="436245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سه ماه پرتفوی کاغذی قبل از پول واقعی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۱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نقشه راه یادگیری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شروع معامله قبل از یادگیری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پریدن مستقیم به ارزش‌گذاری بدون فهم کدال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تمرین فقط روی یک صنعت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ثبت نکردن پیش‌بینی‌ها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مقایسه نکردن نتیجه با صندوق درآمد ثابت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۲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مبانی بازار و بازده واقعی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سبا ناظر، کدال منبع رسمی، tsetmc قیمت، بورس کالا نرخ کشف‌شده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دامنه نوسان، صف و توقف نماد = ریسک نقدشوندگی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بازده واقعی = (۱ + بازده اسمی) ÷ (۱ + تورم) − 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معیار مقایسه: اخزا / درآمد ثابت، تورم، دلار و سکه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قدرت قیمت‌گذاری سهم را ضدتورمی می‌کند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صورت‌های مالی ایران تعدیل تورمی نمی‌شوند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250" y="4952504"/>
            <a:ext cx="518795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9200" y="5234781"/>
            <a:ext cx="436245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بنیادی = سود و ارزش؛ تکنیکال = جهت قیمت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۲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مبانی بازار و بازده واقعی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مقایسه بازده اسمی با صفر به جای تورم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کم گرفتن نرخ بدون ریسک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باور به اینکه همه سهام ضدتورمی‌اند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نادیده گرفتن ریسک صف فروش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استفاده از P/B مثل بازارهای بدون تورم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۳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تسلط بر کدال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جستجو با نماد + فیلتر نوع اطلاعیه و تاریخ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ماهانه: مقدار × نرخ = مبلغ؛ رشد را تفکیک کنید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سود عملیاتی هسته است؛ «سایر درآمدها» جای یک‌باره‌ها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نقد عملیاتی را با سود خالص مقایسه کنید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گزارش حسابرس و بندهای شرط را اول بخوانید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اطلاعیه بااهمیت: ریالی، دائمی، نقدی؟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ده یادداشت کلیدی، به‌ویژه اشخاص وابسته و دریافتنی‌ها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234781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افزایش سرمایه: منبع آن مهم است، نه درصد آن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۳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تسلط بر کدال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نگاه فقط به سود هر سهم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خواندن ماهانه بدون مقایسه با سال قبل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نخواندن یادداشت‌ها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هیجان از هر اطلاعیه بااهمیت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خرید به امید «افزایش سرمایه از تجدید ارزیابی»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۳ب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خواندن صفحه گزارش کدال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اول سرصفحه: ناشر، طول دوره، حسابرسی، تلفیقی، واحد مبالغ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اعداد به میلیون ریال، EPS به ریال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مقایسه با همان دوره سال قبل است، تجمعی از ابتدای سال مالی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پرانتز = منفی؛ علامت درصد تغییر = اثر روی سود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حاشیه‌ها را خودتان حساب کنید؛ در صفحه نیستند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«سایر» بالای سود عملیاتی با غیرعملیاتی پایین صفحه فرق دارد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EPS = سود خالص ÷ (سرمایه ÷ ۱,۰۰۰)؛ سهم عملیاتی آن را ببینید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صندوق: معیار بازده NAV هر واحد است، نه رشد خالص دارایی‌ها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۳ب · از دو نمونه واقعی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سرصفحه گزارش، پیش از هر عدد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992566" y="1902420"/>
            <a:ext cx="3386634" cy="1893590"/>
          </a:xfrm>
          <a:prstGeom prst="roundRect">
            <a:avLst>
              <a:gd name="adj" fmla="val 402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00516" y="2048470"/>
            <a:ext cx="306913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عنوان گزارش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00516" y="238115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«صورت‌های مالی میاندوره‌ای ۹ ماهه منتهی به ۱۴۰۵/۰۶/۳۱»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0516" y="293737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طول دوره؛ اعداد تجمعی از ابتدای سال مالی‌اند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2733" y="1902420"/>
            <a:ext cx="3386634" cy="1893590"/>
          </a:xfrm>
          <a:prstGeom prst="roundRect">
            <a:avLst>
              <a:gd name="adj" fmla="val 402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10683" y="2048470"/>
            <a:ext cx="306913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سال مالی منتهی به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0683" y="2381151"/>
            <a:ext cx="3069134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۱۴۰۵/۰۹/۳۰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0683" y="269736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همیشه اسفند نیست؛ این ۹ ماهه = دی ۱۴۰۴ تا شهریور ۱۴۰۵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99" y="1902420"/>
            <a:ext cx="3386634" cy="1893590"/>
          </a:xfrm>
          <a:prstGeom prst="roundRect">
            <a:avLst>
              <a:gd name="adj" fmla="val 402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20849" y="2048470"/>
            <a:ext cx="306913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سرمایه ثبت‌شده / ثبت‌نشده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849" y="2381151"/>
            <a:ext cx="3069134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۲,۰۰۰,۰۰۰ / 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49" y="269736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ثبت‌نشده بیش از صفر یعنی افزایش سرمایه در راه است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2566" y="3948410"/>
            <a:ext cx="3386634" cy="1893590"/>
          </a:xfrm>
          <a:prstGeom prst="roundRect">
            <a:avLst>
              <a:gd name="adj" fmla="val 402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00516" y="4094460"/>
            <a:ext cx="306913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وضعیت حسابرسی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0516" y="4427141"/>
            <a:ext cx="3069134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«حسابرسی نشده»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0516" y="474335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اعداد ممکن است در نسخه حسابرسی‌شده عوض شوند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2733" y="3948410"/>
            <a:ext cx="3386634" cy="1893590"/>
          </a:xfrm>
          <a:prstGeom prst="roundRect">
            <a:avLst>
              <a:gd name="adj" fmla="val 402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0683" y="4094460"/>
            <a:ext cx="306913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واحد مبالغ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0683" y="4427141"/>
            <a:ext cx="3069134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«میلیون ریال»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0683" y="474335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۴,۸۱۴,۹۵۴ میلیون ریال ≈ ۴۸۱ میلیارد تومان؛ EPS به ریال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99" y="3948410"/>
            <a:ext cx="3386634" cy="1893590"/>
          </a:xfrm>
          <a:prstGeom prst="roundRect">
            <a:avLst>
              <a:gd name="adj" fmla="val 402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20849" y="4094460"/>
            <a:ext cx="3069134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تاب‌های بالای صفحه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49" y="4427141"/>
            <a:ext cx="3069134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خالص دارایی‌ها / سود و زیان / گردش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49" y="4743351"/>
            <a:ext cx="3069134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ذخیره صفحه فقط تاب باز را نگه می‌دارد؛ اکسل یا PDF بگیرید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۳ب · نمونه واقعی: شرکت تولیدی، ۶ ماهه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ستون‌ها و علامت‌ها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654770"/>
            <a:ext cx="1066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60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۶ ماهه منتهی به ۱۴۰۵/۰۶/۳۱ (حسابرسی نشده) در برابر همان دوره ۱۴۰۴ (تجدید ارائه شده) · مبالغ میلیون ریال، EPS ریال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815975" y="2230636"/>
            <a:ext cx="3379192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7405" y="2299216"/>
            <a:ext cx="325473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یعنی چه</a:t>
            </a:r>
          </a:p>
        </p:txBody>
      </p:sp>
      <p:sp>
        <p:nvSpPr>
          <p:cNvPr id="7" name="Rectangle 6"/>
          <p:cNvSpPr/>
          <p:nvPr/>
        </p:nvSpPr>
        <p:spPr>
          <a:xfrm>
            <a:off x="4195167" y="2230636"/>
            <a:ext cx="1055985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291599" y="2299216"/>
            <a:ext cx="86312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درصد تغییر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1152" y="2230636"/>
            <a:ext cx="1478359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339136" y="2299216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۶ ماهه ۱۴۰۴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9512" y="2230636"/>
            <a:ext cx="1478359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17496" y="2299216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۶ ماهه ۱۴۰۵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7871" y="2230636"/>
            <a:ext cx="3168154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19301" y="2299216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شرح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975" y="2640806"/>
            <a:ext cx="3379192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405" y="2709386"/>
            <a:ext cx="325473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فروش ۳٪ بیشتر شد؛ به نفع سود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95167" y="2640806"/>
            <a:ext cx="1055985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91599" y="2709386"/>
            <a:ext cx="86312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1152" y="2640806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39136" y="2709386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۴,۶۵۲,۸۶۵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9512" y="2640806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17496" y="2709386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۴,۸۱۴,۹۵۴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07871" y="2640806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19301" y="2709386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درآمدهای عملیاتی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5975" y="3050977"/>
            <a:ext cx="3379192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7405" y="3119557"/>
            <a:ext cx="325473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هزینه ۴۱٪ کم شد؛ به نفع سود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95167" y="3050977"/>
            <a:ext cx="1055985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1599" y="3119557"/>
            <a:ext cx="86312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۴۱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51152" y="3050977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339136" y="3119557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(۳,۰۸۸,۳۶۳)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9512" y="3050977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17496" y="3119557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(۱,۸۲۵,۴۱۵)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07871" y="3050977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19301" y="3119557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بهای تمام‌شده درآمدهای عملیاتی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975" y="3461147"/>
            <a:ext cx="3379192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7405" y="3529727"/>
            <a:ext cx="325473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هزینه ۴۶٪ زیاد شد؛ به ضرر سود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95167" y="3461147"/>
            <a:ext cx="1055985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291599" y="3529727"/>
            <a:ext cx="86312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A63D0C"/>
                </a:solidFill>
                <a:latin typeface="Vazirmatn"/>
                <a:ea typeface="Vazirmatn"/>
                <a:cs typeface="Vazirmatn"/>
              </a:rPr>
              <a:t>(۴۶)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51152" y="3461147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339136" y="3529727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(۳۳۶,۹۴۴)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9512" y="3461147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817496" y="3529727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(۴۹۱,۷۷۰)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7871" y="3461147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19301" y="3529727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هزینه‌های فروش، اداری و عمومی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5975" y="3871317"/>
            <a:ext cx="3379192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7405" y="3939897"/>
            <a:ext cx="325473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مالیات ۲۰ برابر شد؛ به ضرر سود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95167" y="3871317"/>
            <a:ext cx="1055985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91599" y="3939897"/>
            <a:ext cx="86312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A63D0C"/>
                </a:solidFill>
                <a:latin typeface="Vazirmatn"/>
                <a:ea typeface="Vazirmatn"/>
                <a:cs typeface="Vazirmatn"/>
              </a:rPr>
              <a:t>(۱,۸۸۰)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51152" y="3871317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339136" y="3939897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(۴۲۲)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9512" y="3871317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17496" y="3939897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(۸,۳۵۷)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07871" y="3871317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219301" y="3939897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مالیات سال جاری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5975" y="4281488"/>
            <a:ext cx="3379192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7405" y="4350068"/>
            <a:ext cx="325473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از زیان به سود؛ درصد معنا ندارد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95167" y="4281488"/>
            <a:ext cx="1055985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291599" y="4350068"/>
            <a:ext cx="863122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--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1152" y="4281488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339136" y="4350068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(۲۵)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29512" y="4281488"/>
            <a:ext cx="1478359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817496" y="4350068"/>
            <a:ext cx="1302391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۹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07871" y="4281488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219301" y="4350068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EPS غیرعملیاتی (ریال)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2800" y="4999633"/>
            <a:ext cx="10566400" cy="609600"/>
          </a:xfrm>
          <a:prstGeom prst="roundRect">
            <a:avLst>
              <a:gd name="adj" fmla="val 125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6" name="Picture 65" descr="icon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5152033"/>
            <a:ext cx="304800" cy="3048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14400" y="5160962"/>
            <a:ext cx="980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6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مهم‌ترین عدد صفحه نوشته نشده:</a:t>
            </a: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 حاشیه ناخالص = سود ناخالص ÷ درآمد = ۶۲٪ در برابر ۳۴٪ سال قبل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۳ب · نمونه واقعی: صندوق سهامی، ۹ ماهه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صورت خالص دارایی‌های صندوق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654770"/>
            <a:ext cx="1066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60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صندوق فروش و بهای تمام‌شده ندارد · ۱۴۰۵/۰۶/۳۱ در برابر پایان سال مالی قبل · مبالغ میلیون ریال</a:t>
            </a:r>
          </a:p>
        </p:txBody>
      </p:sp>
      <p:sp>
        <p:nvSpPr>
          <p:cNvPr id="5" name="Rectangle 4"/>
          <p:cNvSpPr/>
          <p:nvPr/>
        </p:nvSpPr>
        <p:spPr>
          <a:xfrm>
            <a:off x="815975" y="2179836"/>
            <a:ext cx="4224040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7405" y="2248416"/>
            <a:ext cx="4099580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چه می‌گوید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0015" y="2179836"/>
            <a:ext cx="1583928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125887" y="2248416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۱۴۰۴/۰۹/۳۰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3943" y="2179836"/>
            <a:ext cx="1583928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09816" y="2248416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۱۴۰۵/۰۶/۳۱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7871" y="2179836"/>
            <a:ext cx="3168154" cy="410170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19301" y="2248416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سطر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975" y="2590006"/>
            <a:ext cx="4224040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405" y="2658586"/>
            <a:ext cx="4099580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بخش سهامی پرتفوی؛ ترکیبش در گزارش ماهانه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40015" y="2590006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25887" y="2658586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۵,۴۰۸,۷۰۰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3943" y="2590006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09816" y="2658586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۱۷,۳۷۲,۹۷۸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07871" y="2590006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19301" y="2658586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سرمایه‌گذاری در سهام و حق تقدم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975" y="3000177"/>
            <a:ext cx="4224040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7405" y="3068757"/>
            <a:ext cx="4099580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کارمزد مدیر، متولی، حسابرس و بازارگردان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40015" y="3000177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125887" y="3068757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۷۵,۱۱۱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3943" y="3000177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09816" y="3068757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۳۱۱,۳۴۰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7871" y="3000177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19301" y="3068757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پرداختنی به ارکان صندوق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975" y="3410347"/>
            <a:ext cx="4224040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7405" y="3478927"/>
            <a:ext cx="4099580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خریدهای تسویه‌نشده پایان دوره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0015" y="3410347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5887" y="3478927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۴۸,۸۷۳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3943" y="3410347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09816" y="3478927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۱,۸۴۰,۸۰۹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07871" y="3410347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19301" y="3478927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جاری کارگزاران (بدهی)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975" y="3820517"/>
            <a:ext cx="4224040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27405" y="3889097"/>
            <a:ext cx="4099580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با پول تازه هم بزرگ می‌شود؛ معیار بازده نیست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40015" y="3820517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25887" y="3889097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۶,۴۵۴,۶۱۵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3943" y="3820517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09816" y="3889097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۱۸,۱۲۳,۵۹۹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07871" y="3820517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19301" y="3889097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خالص دارایی‌ها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5975" y="4230688"/>
            <a:ext cx="4224040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7405" y="4299268"/>
            <a:ext cx="4099580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در این صفحه پر نشده؛ معیار اصلی بازده است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0015" y="4230688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125887" y="4299268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3943" y="4230688"/>
            <a:ext cx="1583928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709816" y="4299268"/>
            <a:ext cx="1412183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07871" y="4230688"/>
            <a:ext cx="3168154" cy="410170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19301" y="4299268"/>
            <a:ext cx="3043694" cy="2730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680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خالص دارایی هر واحد (NAV)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200" y="4859933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سه سؤال برای هر صندوق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92566" y="5243413"/>
            <a:ext cx="3386634" cy="797520"/>
          </a:xfrm>
          <a:prstGeom prst="roundRect">
            <a:avLst>
              <a:gd name="adj" fmla="val 955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10864850" y="5489773"/>
            <a:ext cx="304800" cy="3048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0858754" y="5489773"/>
            <a:ext cx="316992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500"/>
              </a:lnSpc>
            </a:pPr>
            <a:r>
              <a:rPr sz="1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0687" y="5376763"/>
            <a:ext cx="2637163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بازده NAV هر واحد در برابر شاخص کل چقدر بوده؟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2733" y="5243413"/>
            <a:ext cx="3386634" cy="797520"/>
          </a:xfrm>
          <a:prstGeom prst="roundRect">
            <a:avLst>
              <a:gd name="adj" fmla="val 955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7275016" y="5489773"/>
            <a:ext cx="304800" cy="3048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268920" y="5489773"/>
            <a:ext cx="316992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500"/>
              </a:lnSpc>
            </a:pPr>
            <a:r>
              <a:rPr sz="1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10853" y="5496719"/>
            <a:ext cx="2637163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کارمزد ارکان چند درصد دارایی است؟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2899" y="5243413"/>
            <a:ext cx="3386634" cy="797520"/>
          </a:xfrm>
          <a:prstGeom prst="roundRect">
            <a:avLst>
              <a:gd name="adj" fmla="val 955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3685183" y="5489773"/>
            <a:ext cx="304800" cy="3048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679087" y="5489773"/>
            <a:ext cx="316992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500"/>
              </a:lnSpc>
            </a:pPr>
            <a:r>
              <a:rPr sz="1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020" y="5376763"/>
            <a:ext cx="2637163" cy="51941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889"/>
              </a:lnSpc>
            </a:pP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در چه سهامی سرمایه‌گذاری کرده؟ آن‌ها را با روش FIS بسنجید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۳ب · روال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روال ۱۰ دقیقه‌ای برای هر صفحه صورت مالی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سرصفحه: ناشر، طول دوره، حسابرسی، تلفیقی، واحد مبالغ، سرمایه ثبت‌نشده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رشد درآمد را با تورم مقایسه کنید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حاشیه ناخالص و عملیاتی هر دو سال را حساب کنید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«سایر»های بالای سود عملیاتی را از غیرعملیاتی‌های پایین جدا کنید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نرخ مؤثر مالیات = مالیات ÷ سود قبل از مالیات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EPS را با سطر سرمایه چک کنید و سهم عملیاتی آن را ببینید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234781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اگر «تجدید ارائه شده» دارد، یادداشت آن را بخوانید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سه سؤال برای یادداشت‌ها و ماهانه بنویسید؛ پیش از جواب، نتیجه نگیرید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۳ب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خواندن صفحه گزارش کدال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خواندن «(۴۶)» به معنای کاهش هزینه؛ یعنی هزینه زیاد شده و به ضرر سود است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فراموشی واحد میلیون ریال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مقایسه ۹ ماهه با ۶ ماهه؛ دوره‌ها تجمعی‌اند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نخواندن یادداشت تجدید ارائه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نادیده گرفتن سرمایه ثبت‌نشده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4393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99487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00" y="49847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فرض اینکه صفحه ذخیره‌شده همه تاب‌ها را دارد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۴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مهارت‌های اصلی FIS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نرمال‌سازی: حذف فروش دارایی، تسعیر، برگشت ذخایر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سود پایدار = مقدار نرمال × نرخ فعلی − هزینه‌های واقعی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CFO/NI بالای ۰.۸ = سود باکیفیت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بازده مورد انتظار ≈ E/P × تقسیم + رشد؛ باید از اخزا + صرف ریسک بیشتر باشد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بازگشت سرمایه زیر ۴ تا ۵ سال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حاشیه باریک = حساسیت بالا به ارز و قیمت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افزایش سرمایه فقط با بازده طرح بالاتر از E/P ارزش می‌سازد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پرتفوی ۸ تا ۱۵ شرکت؛ سقف ۱۰ تا ۱۵٪ هر سهم و ۲۵ تا ۳۰٪ هر صنعت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۴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مهارت‌های اصلی FIS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P/E پایین را به معنای ارزان گرفتن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ارزش‌گذاری کالایی‌ها با سود سال اوج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فراموشی تعداد سهام جدید پس از افزایش سرمایه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مدل بدون تحلیل حساسیت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تمرکز روی یک صنعت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4393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99487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00" y="49847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فروش فقط به خاطر افت قیمت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۴ب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ارزش‌گذاری و مدل مالی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DCF وقتی لازم است که رشد، سرمایه‌گذاری یا بدهی سال‌ها تغییر کند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FCFF = NOPAT + استهلاک − CAPEX − افزایش سرمایه در گردش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نرخ تنزیل = بازده اخزا + صرف ریسک سهام + صرف ریسک خاص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اسمی با اسمی، واقعی با واقعی؛ رشد نهایی واقعی حداکثر ۲٪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ارزش نهایی معمولاً ۷۰ تا ۸۵ درصد کل است؛ همیشه آن را بسنجید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EV = ارزش بازار سهام + خالص بدهی؛ ضریب را با هم‌گروه واقعی بسنجید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سه صورت مالی به هم وصل‌اند؛ کنترل تراز باید صفر باشد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234781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خروجی: دامنه ارزش با سه سناریو، نه یک عدد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۴ب · مثال فایل اکسل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دامنه ارزش «شرکت د»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654770"/>
            <a:ext cx="1066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60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شرکت فرضی تک‌محصولی · ارزش هر سهم به ریال · فایل FIS-valuation-model.xlsx</a:t>
            </a:r>
          </a:p>
        </p:txBody>
      </p:sp>
      <p:sp>
        <p:nvSpPr>
          <p:cNvPr id="5" name="Rectangle 4"/>
          <p:cNvSpPr/>
          <p:nvPr/>
        </p:nvSpPr>
        <p:spPr>
          <a:xfrm>
            <a:off x="815975" y="2230636"/>
            <a:ext cx="2111970" cy="465931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07136" y="2308106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بالا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7945" y="2230636"/>
            <a:ext cx="2111970" cy="465931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019107" y="2308106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پایه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16" y="2230636"/>
            <a:ext cx="2111970" cy="465931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31077" y="2308106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پایین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51886" y="2230636"/>
            <a:ext cx="4224139" cy="465931"/>
          </a:xfrm>
          <a:prstGeom prst="rect">
            <a:avLst/>
          </a:prstGeom>
          <a:solidFill>
            <a:srgbClr val="E9E3D5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78556" y="2308106"/>
            <a:ext cx="4069199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روش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975" y="2696567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7136" y="2774037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۳,۷۹۶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7945" y="2696567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019107" y="2774037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۲,۷۸۴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16" y="2696567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31077" y="2774037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۱,۳۷۱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51886" y="2696567"/>
            <a:ext cx="4224139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78556" y="2774037"/>
            <a:ext cx="4069199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DCF، سه سناریو (۲۵/۵۰/۲۵)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975" y="3162498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7136" y="3239968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۴,۸۲۸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7945" y="3162498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019107" y="3239968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۲,۹۸۴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9916" y="3162498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31077" y="3239968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۲,۱۶۴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51886" y="3162498"/>
            <a:ext cx="4224139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78556" y="3239968"/>
            <a:ext cx="4069199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DCF، حساسیت WACC و رشد نهایی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975" y="3628430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07136" y="3705900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۲,۸۴۷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7945" y="3628430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019107" y="3705900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۲,۳۴۴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39916" y="3628430"/>
            <a:ext cx="2111970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31077" y="3705900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۱,۸۴۰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51886" y="3628430"/>
            <a:ext cx="4224139" cy="465931"/>
          </a:xfrm>
          <a:prstGeom prst="rect">
            <a:avLst/>
          </a:prstGeom>
          <a:noFill/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178556" y="3705900"/>
            <a:ext cx="4069199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EV/EBITDA سال اول، ۴ تا ۶ برابر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975" y="4094361"/>
            <a:ext cx="2111970" cy="465931"/>
          </a:xfrm>
          <a:prstGeom prst="rect">
            <a:avLst/>
          </a:prstGeom>
          <a:solidFill>
            <a:srgbClr val="E3EFEC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927945" y="4094361"/>
            <a:ext cx="2111970" cy="465931"/>
          </a:xfrm>
          <a:prstGeom prst="rect">
            <a:avLst/>
          </a:prstGeom>
          <a:solidFill>
            <a:srgbClr val="E3EFEC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019107" y="4171831"/>
            <a:ext cx="1929648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920"/>
              </a:lnSpc>
            </a:pPr>
            <a:r>
              <a:rPr sz="16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۲,۰۰۰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39916" y="4094361"/>
            <a:ext cx="2111970" cy="465931"/>
          </a:xfrm>
          <a:prstGeom prst="rect">
            <a:avLst/>
          </a:prstGeom>
          <a:solidFill>
            <a:srgbClr val="E3EFEC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151886" y="4094361"/>
            <a:ext cx="4224139" cy="465931"/>
          </a:xfrm>
          <a:prstGeom prst="rect">
            <a:avLst/>
          </a:prstGeom>
          <a:solidFill>
            <a:srgbClr val="E3EFEC"/>
          </a:solidFill>
          <a:ln w="6350">
            <a:solidFill>
              <a:srgbClr val="D8D0BF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78556" y="4171831"/>
            <a:ext cx="4069199" cy="31099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20"/>
              </a:lnSpc>
            </a:pPr>
            <a:r>
              <a:rPr sz="16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قیمت بازار (فرضی)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2800" y="4868267"/>
            <a:ext cx="10566400" cy="609600"/>
          </a:xfrm>
          <a:prstGeom prst="roundRect">
            <a:avLst>
              <a:gd name="adj" fmla="val 12500"/>
            </a:avLst>
          </a:prstGeom>
          <a:solidFill>
            <a:srgbClr val="E3EFE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4" name="Picture 43" descr="icon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0" y="5020667"/>
            <a:ext cx="304800" cy="3048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4400" y="5029597"/>
            <a:ext cx="98044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60"/>
              </a:lnSpc>
            </a:pPr>
            <a:r>
              <a:rPr sz="14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قیمت نزدیک پایین دامنه است:</a:t>
            </a:r>
            <a:r>
              <a:rPr sz="14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 بازار تقریباً سناریوی بد را قیمت‌گذاری کرده. این حاشیه اطمینان است، نه دستور خرید.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۴ب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ارزش‌گذاری و مدل مالی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جریان نقد اسمی با نرخ تنزیل واقعی (یا برعکس)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بتای محاسبه‌شده از قیمت‌های بورس تهران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استهلاک دفتری به جای CAPEX نگهداشت به قیمت روز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بدهی ارزی به نرخ دفتری در خالص بدهی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اعداد ۶ یا ۹ ماهه به جای ۱۲ ماه اخیر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4393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499487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00" y="49847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یک عدد به جای دامنه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۴ب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حسابداری و کیفیت کسب‌وکار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اول گزارش حسابرس: مقبول، مشروط، مردود یا عدم اظهارنظر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یادداشت‌های کلیدی: موجودی، دریافتنی، ذخایر، ارز، اشخاص وابسته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تورم سود را بزرگ نشان می‌دهد: سود موجودی و استهلاک ارزان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اقلام تعهدی = (سود − نقد عملیاتی) ÷ میانگین دارایی‌ها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رشد فقط با ROIC افزایشی بالاتر از WACC ارزش می‌سازد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مزیت سیاستی (خوراک ارزان، ارز ترجیحی) با یک مصوبه می‌رود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تخصیص سرمایه: طرح‌های قبلی به موقع و با بازده تمام شدند؟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097661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کارنامه کیفیت ۱۶ امتیازی: میزان اعتماد به عدد ارزش، نه سیگنال خرید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۴ب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حسابداری و کیفیت کسب‌وکار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خواندن سود خالص بدون گزارش حسابرس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سود تسعیر و فروش دارایی را تکرارشونده دانستن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نادیده گرفتن معاملات با اشخاص وابسته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ROIC اسمی بالا را کسب‌وکار عالی دانستن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رشد سود را با ساختن ارزش یکی گرفتن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800" y="54393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994870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1200" y="49847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خرید شرکت خوب به هر قیمتی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۵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FLM: روان و زندگی مالی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بزرگ‌ترین ضررها: خرید در هیجان، فروش در ترس، پول نامناسب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جبران افت ۵۰٪ به رشد ۱۰۰٪ نیاز دارد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بدون اهرم؛ صف فروش با اهرم یعنی نابودی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صندوق اضطراری ۶ تا ۱۲ ماه، بیرون از سهام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پولی که ۱ تا ۳ سال دیگر لازم دارید، در سهام نه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«اگر امروز نداشتم، می‌خریدم؟»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5550" y="5234781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قاعده ۴۸ ساعت و دفترچه تصمیم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952504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54292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221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750" y="5234781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روال هفتگی، نه تابلوی ساعتی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۵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FLM: روان و زندگی مالی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خرید با سیگنال کانال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میانگین‌کاهی بی‌دلیل سهم بد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فروش سهم خوب برای نگه‌داشتن سهم زیان‌ده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وام گرفتن برای بورس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800" y="48488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440432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1200" y="43942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معامله زیاد و کارمزد سنگین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۶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ماژول‌های تمرینی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047577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افت موقت مقدار (مثل قطعی برق) با افت پایدار فرق دارد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سود فروش سهام یا دارایی را حذف کنید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تغییر نرخ خوراک = تغییر دائمی؛ همان روز مدل را به‌روز کنید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سود بدون نقد + دریافتنی وابسته = خارج از فهرست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080966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افزایش سرمایه را با بازده طرح و سابقه مدیریت بسنجید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کیفیت افشا خودش یک عامل ریسک است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250" y="4952504"/>
            <a:ext cx="518795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9200" y="5234781"/>
            <a:ext cx="436245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هفت گام به‌روزرسانی برای هر گزارش جدید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۶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ماژول‌های تمرینی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واکنش به تیتر اطلاعیه به جای عدد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به‌روز نکردن مدل پس از اطلاعیه دائمی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اعتماد به P/E کانال‌ها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اقدام برای تغییرات کمتر از ۵٪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۷ · نکات کلیدی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مباحث پیشرفته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76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08140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069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55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هلدینگ: صورت تلفیقی + NAV، نه فقط صورت اصلی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2420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429250" y="2169418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22138" y="2169418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750" y="2184698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نرخ ارز قابل‌دسترس شرکت با نرخ بازار آزاد فرق دارد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76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08140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8069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5550" y="3201392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تحریم: تخفیف صادراتی، مطالبات بلوکه، هزینه واردات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919115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429250" y="318611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138" y="318611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750" y="3064272"/>
            <a:ext cx="4356100" cy="59174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سیاست دولت: قیمت‌گذاری دستوری، نرخ خوراک، عوارض صادراتی، قطعی انرژی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76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8140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8069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55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اختیار معامله: ابزار مدیریت ریسک، نه هسته FIS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935809"/>
            <a:ext cx="518160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429250" y="4202807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22138" y="4202807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750" y="4218087"/>
            <a:ext cx="43561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بدهی ارزی = زیان تسعیر در جهش دلار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1250" y="4952504"/>
            <a:ext cx="5187950" cy="889695"/>
          </a:xfrm>
          <a:prstGeom prst="roundRect">
            <a:avLst>
              <a:gd name="adj" fmla="val 8564"/>
            </a:avLst>
          </a:prstGeom>
          <a:solidFill>
            <a:srgbClr val="FFFDF7"/>
          </a:solidFill>
          <a:ln w="6350">
            <a:solidFill>
              <a:srgbClr val="E2DCCD"/>
            </a:solidFill>
          </a:ln>
        </p:spPr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0814050" y="5219502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806938" y="5219502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9200" y="5234781"/>
            <a:ext cx="436245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ماده ۱۴۱، ساختار سهامداری و شناور آزاد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بخش ۷ · اشتباهات رایج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مباحث پیشرفته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4866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04212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1200" y="20320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جمع زدن سود اصلی و تلفیقی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30771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263267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26225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فرض نرخ ارز بازار آزاد برای همه فروش‌ها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2800" y="366772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22322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1200" y="321310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خرید هلدینگ فقط به خاطر فاصله با NAV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58270"/>
            <a:ext cx="10566400" cy="6350"/>
          </a:xfrm>
          <a:prstGeom prst="rect">
            <a:avLst/>
          </a:prstGeom>
          <a:solidFill>
            <a:srgbClr val="2E3B4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0" y="381377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1200" y="3803650"/>
            <a:ext cx="101854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E4E9EE"/>
                </a:solidFill>
                <a:latin typeface="Vazirmatn"/>
                <a:ea typeface="Vazirmatn"/>
                <a:cs typeface="Vazirmatn"/>
              </a:rPr>
              <a:t>معامله اختیار بدون فهم اهرم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8128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0E6B67"/>
                </a:solidFill>
                <a:latin typeface="Vazirmatn"/>
                <a:ea typeface="Vazirmatn"/>
                <a:cs typeface="Vazirmatn"/>
              </a:rPr>
              <a:t>بخش ۸ · خودارزیابی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041400"/>
            <a:ext cx="10668000" cy="635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3679"/>
              </a:lnSpc>
            </a:pPr>
            <a:r>
              <a:rPr sz="3200" b="1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آزمون نهایی «تحلیلگر مستقل»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1654770"/>
            <a:ext cx="10668000" cy="279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960"/>
              </a:lnSpc>
            </a:pPr>
            <a:r>
              <a:rPr sz="1400" b="0" lang="fa-IR" altLang="en-US">
                <a:solidFill>
                  <a:srgbClr val="3E4A56"/>
                </a:solidFill>
                <a:latin typeface="Vazirmatn"/>
                <a:ea typeface="Vazirmatn"/>
                <a:cs typeface="Vazirmatn"/>
              </a:rPr>
              <a:t>بدون هیچ منبعی جز کدال و tsetmc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2887861"/>
            <a:ext cx="105664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023600" y="2379861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1016488" y="2379861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2395141"/>
            <a:ext cx="10134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یک شرکت ناآشنا را در ۳ ساعت از صفر مدل کنید: EPS پایدار، بازگشت سرمایه، ۳ پرچم قرمز یا سبز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800" y="3554611"/>
            <a:ext cx="105664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023600" y="3046611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016488" y="3046611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3061891"/>
            <a:ext cx="10134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یک اطلاعیه بااهمیت واقعی را در ۱۵ دقیقه به اثر ریالی بر EPS تبدیل کنید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4221361"/>
            <a:ext cx="105664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23600" y="3713361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016488" y="3713361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200" y="3728641"/>
            <a:ext cx="10134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یک گزارش توجیهی افزایش سرمایه را ارزش‌آفرین یا رقیق‌کننده تشخیص دهید، با دلیل عددی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2800" y="4888111"/>
            <a:ext cx="105664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23600" y="4380111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016488" y="4380111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395391"/>
            <a:ext cx="10134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پرتفوی کاغذی ۶ ماهه با دفترچه کامل و مقایسه با شاخص و درآمد ثابت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800" y="5554861"/>
            <a:ext cx="10566400" cy="6350"/>
          </a:xfrm>
          <a:prstGeom prst="rect">
            <a:avLst/>
          </a:prstGeom>
          <a:solidFill>
            <a:srgbClr val="DDD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23600" y="5046861"/>
            <a:ext cx="355600" cy="355600"/>
          </a:xfrm>
          <a:prstGeom prst="ellipse">
            <a:avLst/>
          </a:prstGeom>
          <a:solidFill>
            <a:srgbClr val="0E6B6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016488" y="5046861"/>
            <a:ext cx="369824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 rtl="1">
              <a:lnSpc>
                <a:spcPts val="1750"/>
              </a:lnSpc>
            </a:pPr>
            <a:r>
              <a:rPr sz="14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5062141"/>
            <a:ext cx="101346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2160"/>
              </a:lnSpc>
            </a:pPr>
            <a:r>
              <a:rPr sz="1600" b="0" lang="fa-IR" altLang="en-US">
                <a:solidFill>
                  <a:srgbClr val="16212C"/>
                </a:solidFill>
                <a:latin typeface="Vazirmatn"/>
                <a:ea typeface="Vazirmatn"/>
                <a:cs typeface="Vazirmatn"/>
              </a:rPr>
              <a:t>یک تصمیم اشتباه خودتان را پیدا کنید و بنویسید کدام سوگیری باعث آن شد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5C6570"/>
                </a:solidFill>
                <a:latin typeface="Vazirmatn"/>
                <a:ea typeface="Vazirmatn"/>
                <a:cs typeface="Vazirmatn"/>
              </a:rPr>
              <a:t>برنامه خودآموز FIS و FLM · آموزشی، نه توصیه سرمایه‌گذاری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235327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1" lang="fa-IR" altLang="en-US">
                <a:solidFill>
                  <a:srgbClr val="F2994A"/>
                </a:solidFill>
                <a:latin typeface="Vazirmatn"/>
                <a:ea typeface="Vazirmatn"/>
                <a:cs typeface="Vazirmatn"/>
              </a:rPr>
              <a:t>برای ادامه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87600" y="2734270"/>
            <a:ext cx="89916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4000"/>
              </a:lnSpc>
            </a:pPr>
            <a:r>
              <a:rPr sz="3200" b="1" lang="fa-IR" altLang="en-US">
                <a:solidFill>
                  <a:srgbClr val="F5F2EA"/>
                </a:solidFill>
                <a:latin typeface="Vazirmatn"/>
                <a:ea typeface="Vazirmatn"/>
                <a:cs typeface="Vazirmatn"/>
              </a:rPr>
              <a:t>متن کامل هر بخش، جدول‌ها و تمرین‌ها در سند «برنامه خودآموز FIS و FLM با کدال»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997920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ts val="2240"/>
              </a:lnSpc>
            </a:pPr>
            <a:r>
              <a:rPr sz="1600" b="0" lang="fa-IR" altLang="en-US">
                <a:solidFill>
                  <a:srgbClr val="C9D2DA"/>
                </a:solidFill>
                <a:latin typeface="Vazirmatn"/>
                <a:ea typeface="Vazirmatn"/>
                <a:cs typeface="Vazirmatn"/>
                <a:hlinkClick r:id="rId2"/>
              </a:rPr>
              <a:t>claude.ai/artifact/XPmSdKXgRt4VAYWLtM86SU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6210300"/>
            <a:ext cx="10668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 rtl="1">
              <a:lnSpc>
                <a:spcPts val="1439"/>
              </a:lnSpc>
            </a:pPr>
            <a:r>
              <a:rPr sz="1200" b="0" lang="fa-IR" altLang="en-US">
                <a:solidFill>
                  <a:srgbClr val="9AA7B3"/>
                </a:solidFill>
                <a:latin typeface="Vazirmatn"/>
                <a:ea typeface="Vazirmatn"/>
                <a:cs typeface="Vazirmatn"/>
              </a:rPr>
              <a:t>آموزشی، نه توصیه سرمایه‌گذاری · هیچ روشی سود تضمین‌شده نمی‌دهد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اسلایدهای FIS و FLM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